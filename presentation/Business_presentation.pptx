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entury Gothic Paneuropean Bold" charset="1" panose="020B0702020202020204"/>
      <p:regular r:id="rId22"/>
    </p:embeddedFont>
    <p:embeddedFont>
      <p:font typeface="Century Gothic Paneuropean" charset="1" panose="020B0502020202020204"/>
      <p:regular r:id="rId23"/>
    </p:embeddedFont>
    <p:embeddedFont>
      <p:font typeface="Open San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2124" y="3354527"/>
            <a:ext cx="16227176" cy="153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0"/>
              </a:lnSpc>
            </a:pPr>
            <a:r>
              <a:rPr lang="en-US" b="true" sz="899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CUSTOMER CHURN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82740" y="5588467"/>
            <a:ext cx="9122335" cy="87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2"/>
              </a:lnSpc>
            </a:pPr>
            <a:r>
              <a:rPr lang="en-US" sz="51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Data-Driven Business Insights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16614" y="1693058"/>
            <a:ext cx="12454772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6614" y="4093645"/>
            <a:ext cx="12454772" cy="316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Customer churn leads to revenue loss</a:t>
            </a:r>
          </a:p>
          <a:p>
            <a:pPr algn="ctr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Acquiring new customers is expensive</a:t>
            </a:r>
          </a:p>
          <a:p>
            <a:pPr algn="ctr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Need to identify why customers leave</a:t>
            </a:r>
          </a:p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👉 Goal: Reduce churn using data insights</a:t>
            </a:r>
          </a:p>
          <a:p>
            <a:pPr algn="ctr">
              <a:lnSpc>
                <a:spcPts val="509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0345" y="1690069"/>
            <a:ext cx="11446961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BUSINESS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10345" y="4067727"/>
            <a:ext cx="11446961" cy="383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2358" indent="-471179" lvl="1">
              <a:lnSpc>
                <a:spcPts val="6110"/>
              </a:lnSpc>
              <a:buFont typeface="Arial"/>
              <a:buChar char="•"/>
            </a:pPr>
            <a:r>
              <a:rPr lang="en-US" sz="436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Analyze customer behavior</a:t>
            </a:r>
          </a:p>
          <a:p>
            <a:pPr algn="l" marL="942358" indent="-471179" lvl="1">
              <a:lnSpc>
                <a:spcPts val="6110"/>
              </a:lnSpc>
              <a:buFont typeface="Arial"/>
              <a:buChar char="•"/>
            </a:pPr>
            <a:r>
              <a:rPr lang="en-US" sz="436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Identify key churn drivers</a:t>
            </a:r>
          </a:p>
          <a:p>
            <a:pPr algn="l" marL="942358" indent="-471179" lvl="1">
              <a:lnSpc>
                <a:spcPts val="6110"/>
              </a:lnSpc>
              <a:buFont typeface="Arial"/>
              <a:buChar char="•"/>
            </a:pPr>
            <a:r>
              <a:rPr lang="en-US" sz="436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Build predictive model</a:t>
            </a:r>
          </a:p>
          <a:p>
            <a:pPr algn="l" marL="942358" indent="-471179" lvl="1">
              <a:lnSpc>
                <a:spcPts val="6110"/>
              </a:lnSpc>
              <a:buFont typeface="Arial"/>
              <a:buChar char="•"/>
            </a:pPr>
            <a:r>
              <a:rPr lang="en-US" sz="436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Provide actionable recommendations</a:t>
            </a:r>
          </a:p>
          <a:p>
            <a:pPr algn="l">
              <a:lnSpc>
                <a:spcPts val="611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7905" y="1814615"/>
            <a:ext cx="11781191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DATASET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53404" y="3582982"/>
            <a:ext cx="12130193" cy="459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7058" indent="-468529" lvl="1">
              <a:lnSpc>
                <a:spcPts val="6076"/>
              </a:lnSpc>
              <a:buFont typeface="Arial"/>
              <a:buChar char="•"/>
            </a:pPr>
            <a:r>
              <a:rPr lang="en-US" sz="4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Dataset: Customer Churn Data</a:t>
            </a:r>
          </a:p>
          <a:p>
            <a:pPr algn="l" marL="937058" indent="-468529" lvl="1">
              <a:lnSpc>
                <a:spcPts val="6076"/>
              </a:lnSpc>
              <a:buFont typeface="Arial"/>
              <a:buChar char="•"/>
            </a:pPr>
            <a:r>
              <a:rPr lang="en-US" sz="4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Records: 500+</a:t>
            </a:r>
          </a:p>
          <a:p>
            <a:pPr algn="l" marL="937058" indent="-468529" lvl="1">
              <a:lnSpc>
                <a:spcPts val="6076"/>
              </a:lnSpc>
              <a:buFont typeface="Arial"/>
              <a:buChar char="•"/>
            </a:pPr>
            <a:r>
              <a:rPr lang="en-US" sz="4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Features: Customer attributes + usage data</a:t>
            </a:r>
          </a:p>
          <a:p>
            <a:pPr algn="l" marL="937058" indent="-468529" lvl="1">
              <a:lnSpc>
                <a:spcPts val="6076"/>
              </a:lnSpc>
              <a:buFont typeface="Arial"/>
              <a:buChar char="•"/>
            </a:pPr>
            <a:r>
              <a:rPr lang="en-US" sz="4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Target Variable: Churn (Yes/No)</a:t>
            </a:r>
          </a:p>
          <a:p>
            <a:pPr algn="l">
              <a:lnSpc>
                <a:spcPts val="607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65774" y="1814615"/>
            <a:ext cx="11267507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 PREPROCESSING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3724202"/>
            <a:ext cx="11267507" cy="448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5469" indent="-457734" lvl="1">
              <a:lnSpc>
                <a:spcPts val="5936"/>
              </a:lnSpc>
              <a:buFont typeface="Arial"/>
              <a:buChar char="•"/>
            </a:pPr>
            <a:r>
              <a:rPr lang="en-US" sz="4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Removed missing values</a:t>
            </a:r>
          </a:p>
          <a:p>
            <a:pPr algn="l" marL="915469" indent="-457734" lvl="1">
              <a:lnSpc>
                <a:spcPts val="5936"/>
              </a:lnSpc>
              <a:buFont typeface="Arial"/>
              <a:buChar char="•"/>
            </a:pPr>
            <a:r>
              <a:rPr lang="en-US" sz="4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Removed duplicates</a:t>
            </a:r>
          </a:p>
          <a:p>
            <a:pPr algn="l" marL="915469" indent="-457734" lvl="1">
              <a:lnSpc>
                <a:spcPts val="5936"/>
              </a:lnSpc>
              <a:buFont typeface="Arial"/>
              <a:buChar char="•"/>
            </a:pPr>
            <a:r>
              <a:rPr lang="en-US" sz="4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Standardized column names</a:t>
            </a:r>
          </a:p>
          <a:p>
            <a:pPr algn="l" marL="915469" indent="-457734" lvl="1">
              <a:lnSpc>
                <a:spcPts val="5936"/>
              </a:lnSpc>
              <a:buFont typeface="Arial"/>
              <a:buChar char="•"/>
            </a:pPr>
            <a:r>
              <a:rPr lang="en-US" sz="4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Converted categorical variables</a:t>
            </a:r>
          </a:p>
          <a:p>
            <a:pPr algn="l">
              <a:lnSpc>
                <a:spcPts val="5936"/>
              </a:lnSpc>
            </a:pPr>
            <a:r>
              <a:rPr lang="en-US" sz="4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👉 Ensured clean and reliable dataset</a:t>
            </a:r>
          </a:p>
          <a:p>
            <a:pPr algn="l">
              <a:lnSpc>
                <a:spcPts val="593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5127" y="1587744"/>
            <a:ext cx="14797745" cy="283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29"/>
              </a:lnSpc>
            </a:pPr>
            <a:r>
              <a:rPr lang="en-US" b="true" sz="80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EXPLORATORY DATA ANALYSIS (EDA)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9083" y="5121501"/>
            <a:ext cx="11649834" cy="373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5469" indent="-457734" lvl="1">
              <a:lnSpc>
                <a:spcPts val="5936"/>
              </a:lnSpc>
              <a:buFont typeface="Arial"/>
              <a:buChar char="•"/>
            </a:pPr>
            <a:r>
              <a:rPr lang="en-US" sz="4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Performed univariate and bivariate analysis</a:t>
            </a:r>
          </a:p>
          <a:p>
            <a:pPr algn="l" marL="915469" indent="-457734" lvl="1">
              <a:lnSpc>
                <a:spcPts val="5936"/>
              </a:lnSpc>
              <a:buFont typeface="Arial"/>
              <a:buChar char="•"/>
            </a:pPr>
            <a:r>
              <a:rPr lang="en-US" sz="4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Used visualizations for insights</a:t>
            </a:r>
          </a:p>
          <a:p>
            <a:pPr algn="l" marL="915469" indent="-457734" lvl="1">
              <a:lnSpc>
                <a:spcPts val="5936"/>
              </a:lnSpc>
              <a:buFont typeface="Arial"/>
              <a:buChar char="•"/>
            </a:pPr>
            <a:r>
              <a:rPr lang="en-US" sz="42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Identified patterns and trends</a:t>
            </a:r>
          </a:p>
          <a:p>
            <a:pPr algn="l">
              <a:lnSpc>
                <a:spcPts val="593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857438" y="3085173"/>
            <a:ext cx="7084117" cy="5644962"/>
          </a:xfrm>
          <a:custGeom>
            <a:avLst/>
            <a:gdLst/>
            <a:ahLst/>
            <a:cxnLst/>
            <a:rect r="r" b="b" t="t" l="l"/>
            <a:pathLst>
              <a:path h="5644962" w="7084117">
                <a:moveTo>
                  <a:pt x="0" y="0"/>
                </a:moveTo>
                <a:lnTo>
                  <a:pt x="7084117" y="0"/>
                </a:lnTo>
                <a:lnTo>
                  <a:pt x="7084117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732445" y="1690069"/>
            <a:ext cx="12823110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CHURN DISTRIBUTION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33938" y="3448602"/>
            <a:ext cx="8041245" cy="444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Insight: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Percentage of customers who churn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Helps understand problem scale</a:t>
            </a:r>
          </a:p>
          <a:p>
            <a:pPr algn="l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645127" y="3085173"/>
            <a:ext cx="7073815" cy="6024773"/>
          </a:xfrm>
          <a:custGeom>
            <a:avLst/>
            <a:gdLst/>
            <a:ahLst/>
            <a:cxnLst/>
            <a:rect r="r" b="b" t="t" l="l"/>
            <a:pathLst>
              <a:path h="6024773" w="7073815">
                <a:moveTo>
                  <a:pt x="0" y="0"/>
                </a:moveTo>
                <a:lnTo>
                  <a:pt x="7073816" y="0"/>
                </a:lnTo>
                <a:lnTo>
                  <a:pt x="7073816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48121" y="1690069"/>
            <a:ext cx="1219175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CORRELATION HEATMAP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65496" y="4086777"/>
            <a:ext cx="6936707" cy="316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Insight: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Identifies relationships between features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Helps in feature selection</a:t>
            </a:r>
          </a:p>
          <a:p>
            <a:pPr algn="l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620249" y="3865521"/>
            <a:ext cx="5047502" cy="3879930"/>
          </a:xfrm>
          <a:custGeom>
            <a:avLst/>
            <a:gdLst/>
            <a:ahLst/>
            <a:cxnLst/>
            <a:rect r="r" b="b" t="t" l="l"/>
            <a:pathLst>
              <a:path h="3879930" w="5047502">
                <a:moveTo>
                  <a:pt x="0" y="0"/>
                </a:moveTo>
                <a:lnTo>
                  <a:pt x="5047502" y="0"/>
                </a:lnTo>
                <a:lnTo>
                  <a:pt x="5047502" y="3879930"/>
                </a:lnTo>
                <a:lnTo>
                  <a:pt x="0" y="387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951720" y="3905136"/>
            <a:ext cx="5023611" cy="3800701"/>
          </a:xfrm>
          <a:custGeom>
            <a:avLst/>
            <a:gdLst/>
            <a:ahLst/>
            <a:cxnLst/>
            <a:rect r="r" b="b" t="t" l="l"/>
            <a:pathLst>
              <a:path h="3800701" w="5023611">
                <a:moveTo>
                  <a:pt x="0" y="0"/>
                </a:moveTo>
                <a:lnTo>
                  <a:pt x="5023611" y="0"/>
                </a:lnTo>
                <a:lnTo>
                  <a:pt x="5023611" y="3800700"/>
                </a:lnTo>
                <a:lnTo>
                  <a:pt x="0" y="3800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69057" y="1690069"/>
            <a:ext cx="15149885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FEATURE VS CHURN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9057" y="3592507"/>
            <a:ext cx="5184027" cy="507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Insight: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Certain features strongly influence churn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High variation observed in key attributes</a:t>
            </a:r>
          </a:p>
          <a:p>
            <a:pPr algn="l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9057" y="1690069"/>
            <a:ext cx="15149885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MODEL BUILDING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75528" y="3706914"/>
            <a:ext cx="12245031" cy="331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Algorithm: Logistic Regression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Type: Binary Classification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 Split: 80% Train / 20% Test</a:t>
            </a:r>
          </a:p>
          <a:p>
            <a:pPr algn="just">
              <a:lnSpc>
                <a:spcPts val="6636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9057" y="1690069"/>
            <a:ext cx="15149885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MODEL PERFORMANCE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97113" y="3716439"/>
            <a:ext cx="7231718" cy="414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0701" indent="-425350" lvl="1">
              <a:lnSpc>
                <a:spcPts val="5516"/>
              </a:lnSpc>
              <a:buFont typeface="Arial"/>
              <a:buChar char="•"/>
            </a:pPr>
            <a:r>
              <a:rPr lang="en-US" sz="3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Accuracy: 0.96</a:t>
            </a:r>
          </a:p>
          <a:p>
            <a:pPr algn="just" marL="850701" indent="-425350" lvl="1">
              <a:lnSpc>
                <a:spcPts val="5516"/>
              </a:lnSpc>
              <a:buFont typeface="Arial"/>
              <a:buChar char="•"/>
            </a:pPr>
            <a:r>
              <a:rPr lang="en-US" sz="3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Precision: 0.98</a:t>
            </a:r>
          </a:p>
          <a:p>
            <a:pPr algn="just" marL="850701" indent="-425350" lvl="1">
              <a:lnSpc>
                <a:spcPts val="5516"/>
              </a:lnSpc>
              <a:buFont typeface="Arial"/>
              <a:buChar char="•"/>
            </a:pPr>
            <a:r>
              <a:rPr lang="en-US" sz="3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Recall: 0.98</a:t>
            </a:r>
          </a:p>
          <a:p>
            <a:pPr algn="just">
              <a:lnSpc>
                <a:spcPts val="5516"/>
              </a:lnSpc>
            </a:pPr>
            <a:r>
              <a:rPr lang="en-US" sz="39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👉 Model effectively predicts churn</a:t>
            </a:r>
          </a:p>
          <a:p>
            <a:pPr algn="just">
              <a:lnSpc>
                <a:spcPts val="551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071757" y="3532470"/>
            <a:ext cx="6647186" cy="400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Accuracy: 0.96</a:t>
            </a:r>
          </a:p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precision    recall  f1-score   support</a:t>
            </a:r>
          </a:p>
          <a:p>
            <a:pPr algn="ctr">
              <a:lnSpc>
                <a:spcPts val="3564"/>
              </a:lnSpc>
              <a:spcBef>
                <a:spcPct val="0"/>
              </a:spcBef>
            </a:pPr>
          </a:p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0       0.98      0.98      0.98        93</a:t>
            </a:r>
          </a:p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1       0.71      0.71      0.71         7</a:t>
            </a:r>
          </a:p>
          <a:p>
            <a:pPr algn="ctr">
              <a:lnSpc>
                <a:spcPts val="3564"/>
              </a:lnSpc>
              <a:spcBef>
                <a:spcPct val="0"/>
              </a:spcBef>
            </a:pPr>
          </a:p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accuracy                           0.96       100</a:t>
            </a:r>
          </a:p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macro avg       0.85      0.85      0.85       100</a:t>
            </a:r>
          </a:p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weighted avg       0.96      0.96      0.96       100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9057" y="1690069"/>
            <a:ext cx="15149885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KEY 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23197" y="3353864"/>
            <a:ext cx="12245031" cy="499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High-risk customers identified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Behavioral patterns affect churn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Early-stage customers churn more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Certain features strongly impact retention</a:t>
            </a:r>
          </a:p>
          <a:p>
            <a:pPr algn="just">
              <a:lnSpc>
                <a:spcPts val="663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9057" y="1680544"/>
            <a:ext cx="15149885" cy="139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29"/>
              </a:lnSpc>
            </a:pPr>
            <a:r>
              <a:rPr lang="en-US" b="true" sz="80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BUSINESS RECOMMENDATIONS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21484" y="3894838"/>
            <a:ext cx="12245031" cy="415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Offer discounts to high-risk customers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 onboarding experience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Launch retention campaigns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Monitor churn indicators regularly</a:t>
            </a:r>
          </a:p>
          <a:p>
            <a:pPr algn="just">
              <a:lnSpc>
                <a:spcPts val="663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9057" y="1680544"/>
            <a:ext cx="15149885" cy="139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29"/>
              </a:lnSpc>
            </a:pPr>
            <a:r>
              <a:rPr lang="en-US" b="true" sz="80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BUSINESS IMPACT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23197" y="3353864"/>
            <a:ext cx="12245031" cy="415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Reduce churn rate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Increase customer retention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 revenue</a:t>
            </a:r>
          </a:p>
          <a:p>
            <a:pPr algn="just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Better customer satisfaction</a:t>
            </a:r>
          </a:p>
          <a:p>
            <a:pPr algn="just">
              <a:lnSpc>
                <a:spcPts val="663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9057" y="1680544"/>
            <a:ext cx="15149885" cy="1394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29"/>
              </a:lnSpc>
            </a:pPr>
            <a:r>
              <a:rPr lang="en-US" b="true" sz="80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23197" y="3353864"/>
            <a:ext cx="12245031" cy="415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 analysis helps understand churn</a:t>
            </a:r>
          </a:p>
          <a:p>
            <a:pPr algn="l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Predictive modeling enables proactive action</a:t>
            </a:r>
          </a:p>
          <a:p>
            <a:pPr algn="l" marL="1023416" indent="-511708" lvl="1">
              <a:lnSpc>
                <a:spcPts val="6636"/>
              </a:lnSpc>
              <a:buFont typeface="Arial"/>
              <a:buChar char="•"/>
            </a:pPr>
            <a:r>
              <a:rPr lang="en-US" sz="47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Data-driven strategies improve business outcomes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DAHGGdmzM6Q</dc:identifier>
  <dcterms:modified xsi:type="dcterms:W3CDTF">2011-08-01T06:04:30Z</dcterms:modified>
  <cp:revision>1</cp:revision>
  <dc:title>Customer Churn Analysis</dc:title>
</cp:coreProperties>
</file>